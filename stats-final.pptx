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7" r:id="rId5"/>
    <p:sldId id="260" r:id="rId6"/>
    <p:sldId id="261" r:id="rId7"/>
    <p:sldId id="268" r:id="rId8"/>
    <p:sldId id="269" r:id="rId9"/>
    <p:sldId id="290" r:id="rId10"/>
    <p:sldId id="287" r:id="rId11"/>
    <p:sldId id="292" r:id="rId12"/>
    <p:sldId id="293" r:id="rId13"/>
    <p:sldId id="294" r:id="rId14"/>
    <p:sldId id="295" r:id="rId15"/>
    <p:sldId id="291" r:id="rId16"/>
    <p:sldId id="288" r:id="rId17"/>
    <p:sldId id="285" r:id="rId18"/>
    <p:sldId id="270" r:id="rId19"/>
    <p:sldId id="286" r:id="rId20"/>
    <p:sldId id="274" r:id="rId21"/>
    <p:sldId id="275" r:id="rId22"/>
    <p:sldId id="276" r:id="rId23"/>
    <p:sldId id="278" r:id="rId24"/>
    <p:sldId id="279" r:id="rId25"/>
    <p:sldId id="284" r:id="rId26"/>
    <p:sldId id="280" r:id="rId27"/>
    <p:sldId id="281" r:id="rId28"/>
    <p:sldId id="282" r:id="rId29"/>
    <p:sldId id="283" r:id="rId30"/>
    <p:sldId id="264" r:id="rId31"/>
  </p:sldIdLst>
  <p:sldSz cx="12192000" cy="6858000"/>
  <p:notesSz cx="6858000" cy="9144000"/>
  <p:defaultTextStyle>
    <a:defPPr>
      <a:defRPr lang="en-M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2498E6-D054-490D-3065-5267D96C0B02}" v="1135" dt="2026-08-16T19:45:48.309"/>
    <p1510:client id="{0F8C03E8-6103-4A0C-4A4E-C68E9340EEC6}" v="1420" dt="2026-08-15T23:54:28.012"/>
    <p1510:client id="{1D0B4A90-08B7-767F-EEF3-D247EED252B1}" v="613" dt="2026-08-16T04:04:35.054"/>
    <p1510:client id="{48E1C8F3-E9F8-1728-FAA4-886DA29DA58C}" v="9" dt="2026-08-16T14:40:15.253"/>
    <p1510:client id="{6E644FD8-6AD9-C816-A442-0B2FF3C107B0}" v="272" dt="2026-08-16T18:25:28.200"/>
    <p1510:client id="{B83AD30B-43C1-2844-0F8D-8D1F19D86519}" v="7" dt="2026-08-16T18:54:23.176"/>
    <p1510:client id="{C4B20357-D778-A498-3D50-783F2F216844}" v="103" dt="2026-08-16T18:30:26.617"/>
    <p1510:client id="{C855AA0D-7990-87B7-1CF6-0A0DAF47FDE9}" v="256" dt="2026-08-16T19:38:32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3B91-E4B3-5E1B-C4EC-9CC859586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42BF9-BB1A-2126-9269-FC5075D01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B5D05-099F-C5ED-06C2-FAC1D19B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1602E-D25F-0300-583F-D91939E0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659F0-C4CB-690C-FFCC-54E5C7AC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3018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B470C-159E-F2D0-CE49-81CB1212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60DCB-18BA-9BFE-580A-23CC57497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EB83E-2B12-CB3D-D0C6-454E4394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38028-A735-9E28-E873-1CDA90648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E7EB4-E48A-2B67-C445-81D2F550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000369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F6B9-6FE1-7E35-130A-BFAFFA9A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51903-77D9-41F1-DF11-B744CF0EE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162E2-D3E2-0A65-4429-ABD299EB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107DE-E3F2-96CB-15CD-EBD275A3B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139C6-5F52-EF84-D1FC-DE7B7932A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123509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C0DA7-4485-00A3-4FA4-56CD3840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6ACDC-71C3-D621-B9F1-ACCB129D34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FD77D-6FA6-8C40-C81C-1A23968DF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B27364-A0BB-7BD6-B6D3-70FE8A4B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A0255-A4A5-D44F-826E-043CF396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124D5-7355-13D8-5E96-C6D65995A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408707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2416-7E31-BBBE-9276-2A15CA06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71939-2CBD-8E4D-1EF8-6881A56E3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227B8-A2CC-F0AD-86EC-382D0BF0C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B2FF11-56DA-8E76-8B19-7E5780B6A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0EC072-391A-154B-E598-DA73686E6B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8B8CF2-9A32-1833-2BA3-60F07567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D5E5FD-EEB4-7B97-6EB7-5C0D941FF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70594-0B15-701F-F045-20CB5E31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465682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25AEA-4751-27FC-BB9D-1821E20D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11A958-4752-AFB6-D044-1E7C8A52E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FE462-4781-6F63-D155-AA734E182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F6FAC-5F6B-24DC-54BA-887AE95B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066177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F51E45-5D7B-8D62-52B9-8086E78E3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780E54-3FC4-027E-DE40-86F03AECC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3B940-E102-B999-6381-1A92691C6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81773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B16C0-86AE-0472-EEA5-C9C93EE74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31CB4-8C77-02CD-CE6C-7BFC1DE15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D46A9-C365-A6A2-5F6C-B0FFBE3FF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D6776-9DA5-050E-0B00-B5E665E48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A3FB6-18F9-DB3A-D4B1-DE4A10A0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2E488-5371-2AE7-49E9-11600CACE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47077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528B5-4419-A0A2-A0A8-D4B4783C9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774898-2E94-3416-A904-3D9634A9E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A4888-EAA7-2989-579B-D4D8195F6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CAF08-1062-442E-7852-64A70AAAA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C4E5A-0DF9-298B-BCB5-B08CF63F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D7497-4F04-CC9B-2E45-F56FB97C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993880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BF56E-79BA-1311-4707-EB962B4C7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E1D8E-63FA-A7D2-1C43-9895D89FF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36411-D0E3-A92B-30DE-78DA67294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A97758-C737-5D9E-5BD6-EA85510FA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0A44F-160A-A4D9-17D5-045EAFBB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885505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45A57D-E69C-B668-C093-2C2E76FDB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1B1BE-268C-39AA-8A62-8AC92C678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E6645-0E78-23C3-7168-0B6E9EF7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5B6B9-E148-2432-F7D1-26BD93EE7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65F63-9F63-B872-1623-165E070B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137353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90BE7-4823-9862-3E38-B7D9E73B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8D61D-CFD8-BC59-263F-B22EC39D6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3162B-1899-ED12-A023-36F846AED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3332D1-C59E-7D4B-A245-9EF06244AC43}" type="datetimeFigureOut">
              <a:rPr lang="en-MT" smtClean="0"/>
              <a:t>08/16/2026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91B2A-3E26-1F01-EFBD-5F00276261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E898A-7751-E827-E5F6-349551058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307623-7C1A-A345-9BFF-FDB70030FA80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9222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E8AFF-24AE-AF9A-8B29-BBEEC1FBBD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4769"/>
            <a:ext cx="9144000" cy="2387600"/>
          </a:xfrm>
        </p:spPr>
        <p:txBody>
          <a:bodyPr/>
          <a:lstStyle/>
          <a:p>
            <a:r>
              <a:rPr lang="en-MT" b="1"/>
              <a:t>Education Intervention Project</a:t>
            </a:r>
            <a:endParaRPr lang="en-US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84B8C-B966-0714-1B6A-C213A9605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66143"/>
            <a:ext cx="9144000" cy="9968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MT"/>
              <a:t>Wolfgang Klein &amp; Avery John</a:t>
            </a:r>
          </a:p>
          <a:p>
            <a:r>
              <a:rPr lang="en-MT"/>
              <a:t>DS 6372 – Applied Statistics (Final Project)</a:t>
            </a:r>
          </a:p>
        </p:txBody>
      </p:sp>
    </p:spTree>
    <p:extLst>
      <p:ext uri="{BB962C8B-B14F-4D97-AF65-F5344CB8AC3E}">
        <p14:creationId xmlns:p14="http://schemas.microsoft.com/office/powerpoint/2010/main" val="1640728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94B6B-44A0-C2CC-BDD0-F97F045CB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MT" sz="4000"/>
              <a:t>The Problem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CDC7B-85FF-4FDA-05AE-F7CD50388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209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8000" b="1">
                <a:latin typeface="Aptos Serif"/>
                <a:cs typeface="Aptos Serif"/>
              </a:rPr>
              <a:t>~ 10%</a:t>
            </a:r>
          </a:p>
          <a:p>
            <a:pPr marL="0" indent="0" algn="ctr">
              <a:buNone/>
            </a:pPr>
            <a:r>
              <a:rPr lang="en-US" sz="2400"/>
              <a:t>of students receive the majority of the intervention resources from budget</a:t>
            </a:r>
          </a:p>
          <a:p>
            <a:pPr marL="0" indent="0" algn="ctr">
              <a:buNone/>
            </a:pPr>
            <a:endParaRPr lang="en-US" sz="2400"/>
          </a:p>
          <a:p>
            <a:pPr marL="0" indent="0" algn="ctr">
              <a:buNone/>
            </a:pPr>
            <a:r>
              <a:rPr lang="en-US" sz="2400" i="1"/>
              <a:t>Can we identify at-risk students early enough to help?</a:t>
            </a:r>
          </a:p>
        </p:txBody>
      </p:sp>
    </p:spTree>
    <p:extLst>
      <p:ext uri="{BB962C8B-B14F-4D97-AF65-F5344CB8AC3E}">
        <p14:creationId xmlns:p14="http://schemas.microsoft.com/office/powerpoint/2010/main" val="523220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0D544-3369-9DCA-1A8D-616CE7688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/>
              <a:t>Defining our Metrics / Goals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C9C9D4-ED9E-56B6-899D-BD3D9933D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112891"/>
              </p:ext>
            </p:extLst>
          </p:nvPr>
        </p:nvGraphicFramePr>
        <p:xfrm>
          <a:off x="2011680" y="2129973"/>
          <a:ext cx="816864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1761613319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4042529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134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Correctly flags at-risk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25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Specificity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Correctly clears passing students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048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Positive Predictive Value (PPV)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Flags that turn out correct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378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Negative Predictive Value (NPV)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Clears that turn out correct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653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Prevalence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Percentage of students who fail (8.8%)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643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Overall ability to separate risk levels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787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192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3B34D-9D20-B146-1732-6641B2B3E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8ED2C-2CCD-77D6-E775-80493D01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764"/>
            <a:ext cx="10515600" cy="1325563"/>
          </a:xfrm>
        </p:spPr>
        <p:txBody>
          <a:bodyPr/>
          <a:lstStyle/>
          <a:p>
            <a:pPr algn="ctr"/>
            <a:r>
              <a:rPr lang="en-MT"/>
              <a:t>The Approach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BE85D-1E35-5C52-23E2-5E3A553A72B9}"/>
              </a:ext>
            </a:extLst>
          </p:cNvPr>
          <p:cNvSpPr txBox="1"/>
          <p:nvPr/>
        </p:nvSpPr>
        <p:spPr>
          <a:xfrm>
            <a:off x="4280827" y="1390268"/>
            <a:ext cx="36303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Clean / Exploring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277E8-A016-83BF-601A-76AB622B206E}"/>
              </a:ext>
            </a:extLst>
          </p:cNvPr>
          <p:cNvSpPr txBox="1"/>
          <p:nvPr/>
        </p:nvSpPr>
        <p:spPr>
          <a:xfrm>
            <a:off x="4330389" y="2294754"/>
            <a:ext cx="36303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Build Interpretable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EB319E-9761-1B07-EFB7-646424092183}"/>
              </a:ext>
            </a:extLst>
          </p:cNvPr>
          <p:cNvSpPr txBox="1"/>
          <p:nvPr/>
        </p:nvSpPr>
        <p:spPr>
          <a:xfrm>
            <a:off x="4021005" y="3307632"/>
            <a:ext cx="41517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Test Complexity / Check Assumptions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7764F15-E03E-B214-C2DE-82CE7D5479B6}"/>
              </a:ext>
            </a:extLst>
          </p:cNvPr>
          <p:cNvCxnSpPr>
            <a:cxnSpLocks/>
          </p:cNvCxnSpPr>
          <p:nvPr/>
        </p:nvCxnSpPr>
        <p:spPr>
          <a:xfrm>
            <a:off x="6095998" y="1823926"/>
            <a:ext cx="1" cy="470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881ABA-CA61-3FE8-0FA7-B89877401FAC}"/>
              </a:ext>
            </a:extLst>
          </p:cNvPr>
          <p:cNvSpPr txBox="1"/>
          <p:nvPr/>
        </p:nvSpPr>
        <p:spPr>
          <a:xfrm>
            <a:off x="4330387" y="4184265"/>
            <a:ext cx="36303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Compare Several Models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705E45-3D6D-0288-445F-E1D1FECE72DB}"/>
              </a:ext>
            </a:extLst>
          </p:cNvPr>
          <p:cNvSpPr txBox="1"/>
          <p:nvPr/>
        </p:nvSpPr>
        <p:spPr>
          <a:xfrm>
            <a:off x="4330386" y="5150703"/>
            <a:ext cx="36303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Select Final Model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4D2DE47-211D-66D0-5A23-5064F2F98154}"/>
              </a:ext>
            </a:extLst>
          </p:cNvPr>
          <p:cNvCxnSpPr>
            <a:cxnSpLocks/>
          </p:cNvCxnSpPr>
          <p:nvPr/>
        </p:nvCxnSpPr>
        <p:spPr>
          <a:xfrm>
            <a:off x="6095997" y="2722218"/>
            <a:ext cx="1" cy="470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9113DE-DEC6-5A94-3527-85A401C303A4}"/>
              </a:ext>
            </a:extLst>
          </p:cNvPr>
          <p:cNvCxnSpPr>
            <a:cxnSpLocks/>
          </p:cNvCxnSpPr>
          <p:nvPr/>
        </p:nvCxnSpPr>
        <p:spPr>
          <a:xfrm>
            <a:off x="6095997" y="3713437"/>
            <a:ext cx="1" cy="470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0ECC6C-BAED-D30A-9289-06B21DD13B8F}"/>
              </a:ext>
            </a:extLst>
          </p:cNvPr>
          <p:cNvCxnSpPr>
            <a:cxnSpLocks/>
          </p:cNvCxnSpPr>
          <p:nvPr/>
        </p:nvCxnSpPr>
        <p:spPr>
          <a:xfrm>
            <a:off x="6095998" y="4605535"/>
            <a:ext cx="1" cy="470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0D02E77-2DA5-23D7-0408-375D469EFC57}"/>
              </a:ext>
            </a:extLst>
          </p:cNvPr>
          <p:cNvCxnSpPr>
            <a:cxnSpLocks/>
          </p:cNvCxnSpPr>
          <p:nvPr/>
        </p:nvCxnSpPr>
        <p:spPr>
          <a:xfrm>
            <a:off x="6095998" y="5539414"/>
            <a:ext cx="1" cy="470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4F018BD-4CD2-EE8F-39D4-8A60082540CD}"/>
              </a:ext>
            </a:extLst>
          </p:cNvPr>
          <p:cNvSpPr txBox="1"/>
          <p:nvPr/>
        </p:nvSpPr>
        <p:spPr>
          <a:xfrm>
            <a:off x="4313198" y="6055936"/>
            <a:ext cx="363034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Outline Business Case (Conclusion)</a:t>
            </a:r>
          </a:p>
        </p:txBody>
      </p:sp>
    </p:spTree>
    <p:extLst>
      <p:ext uri="{BB962C8B-B14F-4D97-AF65-F5344CB8AC3E}">
        <p14:creationId xmlns:p14="http://schemas.microsoft.com/office/powerpoint/2010/main" val="1637116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196C9-0219-674B-98C3-5AA67782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/>
              <a:t>EDA – Handling the Data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E69A4F-2E4D-B6D1-8022-A4F4E3E7E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91" y="1537750"/>
            <a:ext cx="8318815" cy="503034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76935BE-CAA2-E125-2E91-8D7444E5F290}"/>
              </a:ext>
            </a:extLst>
          </p:cNvPr>
          <p:cNvSpPr/>
          <p:nvPr/>
        </p:nvSpPr>
        <p:spPr>
          <a:xfrm>
            <a:off x="5359400" y="2743200"/>
            <a:ext cx="2489200" cy="266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490BED-57F4-4995-52F7-D5043128F119}"/>
              </a:ext>
            </a:extLst>
          </p:cNvPr>
          <p:cNvSpPr txBox="1"/>
          <p:nvPr/>
        </p:nvSpPr>
        <p:spPr>
          <a:xfrm>
            <a:off x="8788400" y="1549400"/>
            <a:ext cx="3213099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/>
              <a:t>6,607 students | 19 Predictors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91.2% Pass | 8.8% Fail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&lt; 2% Missing (Handled with mode imputation)</a:t>
            </a:r>
          </a:p>
        </p:txBody>
      </p:sp>
    </p:spTree>
    <p:extLst>
      <p:ext uri="{BB962C8B-B14F-4D97-AF65-F5344CB8AC3E}">
        <p14:creationId xmlns:p14="http://schemas.microsoft.com/office/powerpoint/2010/main" val="421556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D90F-0774-9777-37D6-EEB85FC3B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/>
              <a:t>EDA – Associations with Failing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5BDFC-B1BE-B2C8-EE82-B1D653380E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3" t="8187" r="32217" b="49330"/>
          <a:stretch>
            <a:fillRect/>
          </a:stretch>
        </p:blipFill>
        <p:spPr>
          <a:xfrm>
            <a:off x="323789" y="2440693"/>
            <a:ext cx="5775061" cy="2237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51D1BC-47DA-E2D5-E3A7-FF0693E070AF}"/>
              </a:ext>
            </a:extLst>
          </p:cNvPr>
          <p:cNvSpPr txBox="1"/>
          <p:nvPr/>
        </p:nvSpPr>
        <p:spPr>
          <a:xfrm>
            <a:off x="838486" y="4679042"/>
            <a:ext cx="11556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Pass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0D249C-01A8-9308-1EDE-9A66CD6EDE1C}"/>
              </a:ext>
            </a:extLst>
          </p:cNvPr>
          <p:cNvSpPr txBox="1"/>
          <p:nvPr/>
        </p:nvSpPr>
        <p:spPr>
          <a:xfrm>
            <a:off x="1961433" y="4679042"/>
            <a:ext cx="11556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Fail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55B2F-0E5F-A13F-4568-37E46471601F}"/>
              </a:ext>
            </a:extLst>
          </p:cNvPr>
          <p:cNvSpPr txBox="1"/>
          <p:nvPr/>
        </p:nvSpPr>
        <p:spPr>
          <a:xfrm>
            <a:off x="3645854" y="4656125"/>
            <a:ext cx="11556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Pass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D853BA-A6FA-15DD-C977-45F402EC9F22}"/>
              </a:ext>
            </a:extLst>
          </p:cNvPr>
          <p:cNvSpPr txBox="1"/>
          <p:nvPr/>
        </p:nvSpPr>
        <p:spPr>
          <a:xfrm>
            <a:off x="4774531" y="4656125"/>
            <a:ext cx="11556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Fail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454F95-87B4-E6D5-AAD2-523E221C9A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6" r="33159" b="79460"/>
          <a:stretch>
            <a:fillRect/>
          </a:stretch>
        </p:blipFill>
        <p:spPr>
          <a:xfrm>
            <a:off x="6293089" y="2108393"/>
            <a:ext cx="5655617" cy="16007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06E6B6-EB51-07FD-CCAA-EF85D0D521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796" r="65132" b="24142"/>
          <a:stretch>
            <a:fillRect/>
          </a:stretch>
        </p:blipFill>
        <p:spPr>
          <a:xfrm>
            <a:off x="6290797" y="3649579"/>
            <a:ext cx="2954583" cy="1720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A37AD5-EF98-ADB0-98BF-0BBE61D741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199" t="58434" b="21883"/>
          <a:stretch>
            <a:fillRect/>
          </a:stretch>
        </p:blipFill>
        <p:spPr>
          <a:xfrm>
            <a:off x="9247127" y="3651235"/>
            <a:ext cx="2761539" cy="18110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312B15-9395-533F-9791-C2B084544BB7}"/>
              </a:ext>
            </a:extLst>
          </p:cNvPr>
          <p:cNvSpPr txBox="1"/>
          <p:nvPr/>
        </p:nvSpPr>
        <p:spPr>
          <a:xfrm>
            <a:off x="7146472" y="1739898"/>
            <a:ext cx="42036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i="1"/>
              <a:t>Fail Rate Among Categorical Factors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2B124C-AC14-5BA9-236B-6B32D2DB4C93}"/>
              </a:ext>
            </a:extLst>
          </p:cNvPr>
          <p:cNvSpPr txBox="1"/>
          <p:nvPr/>
        </p:nvSpPr>
        <p:spPr>
          <a:xfrm>
            <a:off x="1308291" y="1739898"/>
            <a:ext cx="42036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i="1"/>
              <a:t>Numeric Predictors by Outcome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139D5-4646-CDC9-E021-D0BF50647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EDA – 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1CF33-DB09-E685-2F2E-2500340E5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970"/>
            <a:ext cx="4986804" cy="49872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What variables were dropped?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Sleep Hours</a:t>
            </a:r>
            <a:r>
              <a:rPr lang="en-US"/>
              <a:t>, </a:t>
            </a:r>
            <a:r>
              <a:rPr lang="en-US" b="1"/>
              <a:t>Gender </a:t>
            </a:r>
            <a:r>
              <a:rPr lang="en-US"/>
              <a:t>&amp; </a:t>
            </a:r>
            <a:r>
              <a:rPr lang="en-US" b="1"/>
              <a:t>School Type</a:t>
            </a:r>
            <a:r>
              <a:rPr lang="en-US"/>
              <a:t> (</a:t>
            </a:r>
            <a:r>
              <a:rPr lang="en-US" i="1"/>
              <a:t>statistically insignificant</a:t>
            </a:r>
            <a:r>
              <a:rPr lang="en-US"/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AIC: </a:t>
            </a:r>
            <a:r>
              <a:rPr lang="en-US" b="1"/>
              <a:t>424 </a:t>
            </a:r>
            <a:r>
              <a:rPr lang="en-US"/>
              <a:t>to </a:t>
            </a:r>
            <a:r>
              <a:rPr lang="en-US" b="1"/>
              <a:t>411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marL="457200" lvl="1" indent="0" algn="ctr">
              <a:buNone/>
            </a:pPr>
            <a:endParaRPr lang="en-US" sz="4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E2EF6-4BB4-6DD8-CE44-DB9977D2F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199" y="3841226"/>
            <a:ext cx="4877661" cy="27105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C714086-B343-C96C-B111-1902983AB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998" y="1025548"/>
            <a:ext cx="4463569" cy="55402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813A23-DD07-77FB-28E9-130607661D2F}"/>
              </a:ext>
            </a:extLst>
          </p:cNvPr>
          <p:cNvSpPr/>
          <p:nvPr/>
        </p:nvSpPr>
        <p:spPr>
          <a:xfrm>
            <a:off x="7146949" y="5756825"/>
            <a:ext cx="4133515" cy="6391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65E568-ECDA-372E-0BC5-DD6263779D17}"/>
              </a:ext>
            </a:extLst>
          </p:cNvPr>
          <p:cNvSpPr/>
          <p:nvPr/>
        </p:nvSpPr>
        <p:spPr>
          <a:xfrm>
            <a:off x="1268663" y="6140689"/>
            <a:ext cx="4305395" cy="2495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FCF9C0-61C8-6C55-F50E-5C2917E54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575" y="727114"/>
            <a:ext cx="7603237" cy="572069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AA07DC9-C5B6-CFAA-FABC-C7C110D75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Linearity of Logits</a:t>
            </a:r>
          </a:p>
        </p:txBody>
      </p:sp>
    </p:spTree>
    <p:extLst>
      <p:ext uri="{BB962C8B-B14F-4D97-AF65-F5344CB8AC3E}">
        <p14:creationId xmlns:p14="http://schemas.microsoft.com/office/powerpoint/2010/main" val="266373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F04E-8857-6F50-B5C6-EB6247F6A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Probing for Interactions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25AF0A-59A7-45A9-7B45-D099BBFF0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34" y="2176397"/>
            <a:ext cx="10803699" cy="405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52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D635A-B79D-3A08-CD87-B1584A32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7A67C5-94BB-1152-2C72-DA14A48B5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218" y="960329"/>
            <a:ext cx="5803727" cy="57306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F6CA6A2-D857-49C4-2FC9-2BB0C6352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302495"/>
            <a:ext cx="10515600" cy="1325563"/>
          </a:xfrm>
        </p:spPr>
        <p:txBody>
          <a:bodyPr/>
          <a:lstStyle/>
          <a:p>
            <a:r>
              <a:rPr lang="en-MT"/>
              <a:t>Interpretation of Coefficients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59917B-3BCC-F2D4-CF4E-733C224FB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54" y="1310405"/>
            <a:ext cx="5689949" cy="3026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CBEDD5-31C0-18BF-B93A-C0226FC86C20}"/>
              </a:ext>
            </a:extLst>
          </p:cNvPr>
          <p:cNvSpPr txBox="1"/>
          <p:nvPr/>
        </p:nvSpPr>
        <p:spPr>
          <a:xfrm>
            <a:off x="323589" y="4326698"/>
            <a:ext cx="609600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>
                <a:latin typeface="Aptos Serif"/>
                <a:cs typeface="Segoe UI"/>
              </a:rPr>
              <a:t>(other variables omitted)</a:t>
            </a:r>
          </a:p>
          <a:p>
            <a:endParaRPr lang="en-US" sz="2800" b="1" i="1">
              <a:solidFill>
                <a:srgbClr val="000000"/>
              </a:solidFill>
              <a:latin typeface="Aptos Serif"/>
              <a:ea typeface="Segoe UI"/>
              <a:cs typeface="Segoe UI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83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6EECD-579A-E31D-85EA-C36CE331D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EC9A82-1009-037C-8F9D-BE13F8C90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218" y="960329"/>
            <a:ext cx="5803727" cy="57306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35CCA8E-A3E7-B6FC-EE37-92308FCE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302495"/>
            <a:ext cx="10515600" cy="1325563"/>
          </a:xfrm>
        </p:spPr>
        <p:txBody>
          <a:bodyPr/>
          <a:lstStyle/>
          <a:p>
            <a:r>
              <a:rPr lang="en-MT"/>
              <a:t>Interpretation of Coefficients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CD183-BA45-C769-17FB-6E4082637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54" y="1310405"/>
            <a:ext cx="5689949" cy="3026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5264A4-2534-54AA-22F1-45E22247F723}"/>
              </a:ext>
            </a:extLst>
          </p:cNvPr>
          <p:cNvSpPr txBox="1"/>
          <p:nvPr/>
        </p:nvSpPr>
        <p:spPr>
          <a:xfrm>
            <a:off x="323589" y="4326698"/>
            <a:ext cx="6096000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>
                <a:latin typeface="Aptos Serif"/>
                <a:cs typeface="Segoe UI"/>
              </a:rPr>
              <a:t>(other variables omitted)</a:t>
            </a:r>
          </a:p>
          <a:p>
            <a:endParaRPr lang="en-US" sz="2800" b="1" i="1">
              <a:solidFill>
                <a:srgbClr val="000000"/>
              </a:solidFill>
              <a:latin typeface="Aptos Serif"/>
              <a:ea typeface="Segoe UI"/>
              <a:cs typeface="Segoe UI"/>
            </a:endParaRPr>
          </a:p>
          <a:p>
            <a:r>
              <a:rPr lang="en-US" sz="2800" i="1">
                <a:solidFill>
                  <a:srgbClr val="000000"/>
                </a:solidFill>
                <a:latin typeface="Aptos Serif"/>
                <a:ea typeface="Segoe UI"/>
                <a:cs typeface="Segoe UI"/>
              </a:rPr>
              <a:t>Each point increase reduces the odds of failure by 99%</a:t>
            </a:r>
            <a:r>
              <a:rPr lang="en-US" sz="2800" b="0" i="0">
                <a:solidFill>
                  <a:srgbClr val="000000"/>
                </a:solidFill>
                <a:latin typeface="Aptos Serif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5B818E-A39A-F7ED-5F9B-4BBE29329DB2}"/>
              </a:ext>
            </a:extLst>
          </p:cNvPr>
          <p:cNvSpPr/>
          <p:nvPr/>
        </p:nvSpPr>
        <p:spPr>
          <a:xfrm>
            <a:off x="320627" y="2217460"/>
            <a:ext cx="5779641" cy="378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86557-44D8-DCDD-BC01-4A86FB229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13BAD7-CF1F-E2C7-7485-F8C1A459C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218" y="960329"/>
            <a:ext cx="5803727" cy="57306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39B0A2C-5ADE-6E55-99E5-251F3C9C4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302495"/>
            <a:ext cx="10515600" cy="1325563"/>
          </a:xfrm>
        </p:spPr>
        <p:txBody>
          <a:bodyPr/>
          <a:lstStyle/>
          <a:p>
            <a:r>
              <a:rPr lang="en-MT"/>
              <a:t>Interpretation of Coefficients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9ECD4-563C-C072-8800-3EF01CEC7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54" y="1310405"/>
            <a:ext cx="5689949" cy="3026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B5CFAE-6C6B-8632-0D4C-F1F0321792A6}"/>
              </a:ext>
            </a:extLst>
          </p:cNvPr>
          <p:cNvSpPr txBox="1"/>
          <p:nvPr/>
        </p:nvSpPr>
        <p:spPr>
          <a:xfrm>
            <a:off x="323589" y="4326698"/>
            <a:ext cx="609600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>
                <a:latin typeface="Aptos Serif"/>
                <a:cs typeface="Segoe UI"/>
              </a:rPr>
              <a:t>(other variables omitted)</a:t>
            </a:r>
          </a:p>
          <a:p>
            <a:endParaRPr lang="en-US" sz="2800" b="1" i="1">
              <a:solidFill>
                <a:srgbClr val="000000"/>
              </a:solidFill>
              <a:latin typeface="Aptos Serif"/>
              <a:ea typeface="Segoe UI"/>
              <a:cs typeface="Segoe UI"/>
            </a:endParaRPr>
          </a:p>
          <a:p>
            <a:r>
              <a:rPr lang="en-US" sz="2800" i="1">
                <a:latin typeface="Aptos Serif"/>
                <a:cs typeface="Segoe UI"/>
              </a:rPr>
              <a:t>Each hour of physical activity reduces the odds by 77%</a:t>
            </a:r>
          </a:p>
          <a:p>
            <a:r>
              <a:rPr lang="en-US" sz="2800" i="1">
                <a:latin typeface="Aptos Serif"/>
                <a:cs typeface="Segoe UI"/>
              </a:rPr>
              <a:t>Extracurriculars reduces odds by 89%.</a:t>
            </a:r>
          </a:p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416E6C-3FE4-AEDE-472F-A6A55C332801}"/>
              </a:ext>
            </a:extLst>
          </p:cNvPr>
          <p:cNvSpPr/>
          <p:nvPr/>
        </p:nvSpPr>
        <p:spPr>
          <a:xfrm>
            <a:off x="320627" y="2538302"/>
            <a:ext cx="5779641" cy="378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653EAC-2230-BE18-7061-A0BD466E322B}"/>
              </a:ext>
            </a:extLst>
          </p:cNvPr>
          <p:cNvSpPr/>
          <p:nvPr/>
        </p:nvSpPr>
        <p:spPr>
          <a:xfrm>
            <a:off x="352711" y="3242149"/>
            <a:ext cx="5779641" cy="378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1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0491-1B12-39A6-8A59-FAF94A416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B908C4-9E3C-82CA-9BDA-E7E9CA762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218" y="960329"/>
            <a:ext cx="5803727" cy="57306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7D9DF81-C222-B1C1-F1D6-2E3759F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302495"/>
            <a:ext cx="10515600" cy="1325563"/>
          </a:xfrm>
        </p:spPr>
        <p:txBody>
          <a:bodyPr/>
          <a:lstStyle/>
          <a:p>
            <a:r>
              <a:rPr lang="en-MT"/>
              <a:t>Interpretation of Coefficients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860FF-00BD-C697-F31B-38B0F025C3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54" y="1310405"/>
            <a:ext cx="5689949" cy="3026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4EDE8F-33DD-8D60-6D43-322174161C5A}"/>
              </a:ext>
            </a:extLst>
          </p:cNvPr>
          <p:cNvSpPr txBox="1"/>
          <p:nvPr/>
        </p:nvSpPr>
        <p:spPr>
          <a:xfrm>
            <a:off x="323589" y="4326698"/>
            <a:ext cx="6096000" cy="25237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>
                <a:latin typeface="Aptos Serif"/>
                <a:cs typeface="Segoe UI"/>
              </a:rPr>
              <a:t>(other variables omitted)</a:t>
            </a:r>
          </a:p>
          <a:p>
            <a:endParaRPr lang="en-US" sz="2800" b="1" i="1">
              <a:solidFill>
                <a:srgbClr val="000000"/>
              </a:solidFill>
              <a:latin typeface="Aptos Serif"/>
              <a:ea typeface="Segoe UI"/>
              <a:cs typeface="Segoe UI"/>
            </a:endParaRPr>
          </a:p>
          <a:p>
            <a:r>
              <a:rPr lang="en-US" sz="2800" i="1">
                <a:latin typeface="Aptos Serif"/>
                <a:cs typeface="Segoe UI"/>
              </a:rPr>
              <a:t>Each tier of resource access reduces the odds of failure tremendously.</a:t>
            </a:r>
          </a:p>
          <a:p>
            <a:r>
              <a:rPr lang="en-US" sz="2800" i="1">
                <a:latin typeface="Aptos Serif"/>
                <a:cs typeface="Segoe UI"/>
              </a:rPr>
              <a:t>Same with Internet Access.</a:t>
            </a:r>
          </a:p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B4FF5A-3AC6-4AA4-4241-C3C888B0FCE5}"/>
              </a:ext>
            </a:extLst>
          </p:cNvPr>
          <p:cNvSpPr/>
          <p:nvPr/>
        </p:nvSpPr>
        <p:spPr>
          <a:xfrm>
            <a:off x="350706" y="2829065"/>
            <a:ext cx="5779641" cy="378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78A494-E102-3719-8F6E-EA294F4715A8}"/>
              </a:ext>
            </a:extLst>
          </p:cNvPr>
          <p:cNvSpPr/>
          <p:nvPr/>
        </p:nvSpPr>
        <p:spPr>
          <a:xfrm>
            <a:off x="322632" y="3552965"/>
            <a:ext cx="5779641" cy="378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EC397-D372-A1FB-CB1C-767B9CFEB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6F886B1-F2D8-C0E8-350B-9A1A0ED1B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1218" y="960329"/>
            <a:ext cx="5803727" cy="57306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6C35365-3B49-B269-01D6-0B8F96482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302495"/>
            <a:ext cx="10515600" cy="1325563"/>
          </a:xfrm>
        </p:spPr>
        <p:txBody>
          <a:bodyPr/>
          <a:lstStyle/>
          <a:p>
            <a:r>
              <a:rPr lang="en-MT"/>
              <a:t>Interpretation of Coefficients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83B2BA-B890-7721-9769-995513328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54" y="1310405"/>
            <a:ext cx="5689949" cy="30263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F0C854-812D-180A-00B8-9C64C384E10B}"/>
              </a:ext>
            </a:extLst>
          </p:cNvPr>
          <p:cNvSpPr txBox="1"/>
          <p:nvPr/>
        </p:nvSpPr>
        <p:spPr>
          <a:xfrm>
            <a:off x="323589" y="4326698"/>
            <a:ext cx="6096000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1">
                <a:latin typeface="Aptos Serif"/>
                <a:cs typeface="Segoe UI"/>
              </a:rPr>
              <a:t>(other variables omitted)</a:t>
            </a:r>
          </a:p>
          <a:p>
            <a:endParaRPr lang="en-US" sz="2800" b="1" i="1">
              <a:solidFill>
                <a:srgbClr val="000000"/>
              </a:solidFill>
              <a:latin typeface="Aptos Serif"/>
              <a:ea typeface="Segoe UI"/>
              <a:cs typeface="Segoe UI"/>
            </a:endParaRPr>
          </a:p>
          <a:p>
            <a:r>
              <a:rPr lang="en-US" sz="2800" i="1">
                <a:latin typeface="Aptos Serif"/>
                <a:cs typeface="Segoe UI"/>
              </a:rPr>
              <a:t>Learning disabilities increase the odds of failure 322x.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68BE3D-D5E6-14E0-8F51-3033CAD6558D}"/>
              </a:ext>
            </a:extLst>
          </p:cNvPr>
          <p:cNvSpPr/>
          <p:nvPr/>
        </p:nvSpPr>
        <p:spPr>
          <a:xfrm>
            <a:off x="352711" y="3943991"/>
            <a:ext cx="5779641" cy="378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A925-CD77-BCCB-A15B-C91E9C4F9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85E30EB-5AB0-EB1E-CC6F-17B9E8BD9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302495"/>
            <a:ext cx="10515600" cy="1325563"/>
          </a:xfrm>
        </p:spPr>
        <p:txBody>
          <a:bodyPr/>
          <a:lstStyle/>
          <a:p>
            <a:r>
              <a:rPr lang="en-MT"/>
              <a:t>Multivariate Normality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B888A0-A251-9DB3-6920-64E6B7034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01" y="1231726"/>
            <a:ext cx="7348603" cy="55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4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D0B20-65CA-25BA-5933-3CA52C57E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FE61FF8-58CF-83B7-27AA-C1D6A4204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302495"/>
            <a:ext cx="10515600" cy="1325563"/>
          </a:xfrm>
        </p:spPr>
        <p:txBody>
          <a:bodyPr/>
          <a:lstStyle/>
          <a:p>
            <a:r>
              <a:rPr lang="en-MT"/>
              <a:t>Correlation Structure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90EB65-6628-8672-166A-4B93C01590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03" t="5079" r="10583" b="12084"/>
          <a:stretch>
            <a:fillRect/>
          </a:stretch>
        </p:blipFill>
        <p:spPr>
          <a:xfrm>
            <a:off x="5367543" y="1426227"/>
            <a:ext cx="5699574" cy="53101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0B7704-860E-67F1-02E1-EE68472C4EC7}"/>
              </a:ext>
            </a:extLst>
          </p:cNvPr>
          <p:cNvSpPr txBox="1"/>
          <p:nvPr/>
        </p:nvSpPr>
        <p:spPr>
          <a:xfrm>
            <a:off x="8340247" y="1143000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00000"/>
                </a:solidFill>
                <a:latin typeface="Aptos"/>
              </a:rPr>
              <a:t>All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78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7A969C-F7AA-66CB-AE86-BF5AE03CE3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683" r="215" b="11790"/>
          <a:stretch>
            <a:fillRect/>
          </a:stretch>
        </p:blipFill>
        <p:spPr>
          <a:xfrm>
            <a:off x="2031580" y="1513561"/>
            <a:ext cx="9684602" cy="534831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0EDE066-FC90-9D4E-8AF7-EA776D101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302495"/>
            <a:ext cx="10515600" cy="1325563"/>
          </a:xfrm>
        </p:spPr>
        <p:txBody>
          <a:bodyPr/>
          <a:lstStyle/>
          <a:p>
            <a:r>
              <a:rPr lang="en-MT"/>
              <a:t>Correlation Structure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38786-EEAF-D739-74DC-D0A74D196DBE}"/>
              </a:ext>
            </a:extLst>
          </p:cNvPr>
          <p:cNvSpPr txBox="1"/>
          <p:nvPr/>
        </p:nvSpPr>
        <p:spPr>
          <a:xfrm>
            <a:off x="5170744" y="1153438"/>
            <a:ext cx="10490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Pass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69ECBB-A6F9-F90E-314F-F29A6B1D0A08}"/>
              </a:ext>
            </a:extLst>
          </p:cNvPr>
          <p:cNvSpPr txBox="1"/>
          <p:nvPr/>
        </p:nvSpPr>
        <p:spPr>
          <a:xfrm>
            <a:off x="9314770" y="1153438"/>
            <a:ext cx="104905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Fail</a:t>
            </a:r>
          </a:p>
        </p:txBody>
      </p:sp>
    </p:spTree>
    <p:extLst>
      <p:ext uri="{BB962C8B-B14F-4D97-AF65-F5344CB8AC3E}">
        <p14:creationId xmlns:p14="http://schemas.microsoft.com/office/powerpoint/2010/main" val="1568356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E641D11-E486-E1A8-2FD3-EA700742E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812" y="1423220"/>
            <a:ext cx="5806650" cy="5080819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605F4062-DC1C-BCB5-02A2-705C636EF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MT"/>
              <a:t>Model Comparison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8C87CC-2BE2-2436-0B09-F50C580514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" r="-53" b="16949"/>
          <a:stretch>
            <a:fillRect/>
          </a:stretch>
        </p:blipFill>
        <p:spPr>
          <a:xfrm>
            <a:off x="173289" y="1983863"/>
            <a:ext cx="5917954" cy="39714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35EDA48-370F-C429-C9E3-D949B53926A5}"/>
              </a:ext>
            </a:extLst>
          </p:cNvPr>
          <p:cNvSpPr/>
          <p:nvPr/>
        </p:nvSpPr>
        <p:spPr>
          <a:xfrm>
            <a:off x="175983" y="2784495"/>
            <a:ext cx="5915658" cy="7814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EF0CD9-B438-75F0-C11A-26C5DAB2705B}"/>
              </a:ext>
            </a:extLst>
          </p:cNvPr>
          <p:cNvSpPr/>
          <p:nvPr/>
        </p:nvSpPr>
        <p:spPr>
          <a:xfrm>
            <a:off x="170232" y="3972065"/>
            <a:ext cx="5930035" cy="3789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2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054AB-7538-94AE-B0E1-B26C362D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DF0D901C-0E88-4D93-87F4-CBB243550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MT"/>
              <a:t>Model Comparison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468D8F-3405-4C43-3E91-824DB427E0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83" r="12404" b="22146"/>
          <a:stretch>
            <a:fillRect/>
          </a:stretch>
        </p:blipFill>
        <p:spPr>
          <a:xfrm>
            <a:off x="6795369" y="1194736"/>
            <a:ext cx="5398020" cy="47713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A92128-C9C7-5FD6-0278-406999AF3A4E}"/>
              </a:ext>
            </a:extLst>
          </p:cNvPr>
          <p:cNvSpPr txBox="1"/>
          <p:nvPr/>
        </p:nvSpPr>
        <p:spPr>
          <a:xfrm rot="16200000">
            <a:off x="6780546" y="2635057"/>
            <a:ext cx="886217" cy="46166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Pass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C0DD6D-51BB-2304-8DA8-2EBF37E00C46}"/>
              </a:ext>
            </a:extLst>
          </p:cNvPr>
          <p:cNvSpPr txBox="1"/>
          <p:nvPr/>
        </p:nvSpPr>
        <p:spPr>
          <a:xfrm rot="16200000">
            <a:off x="6780546" y="4461770"/>
            <a:ext cx="886217" cy="46166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Fail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82F785-E97A-BCAB-030C-90E97F4FB3D4}"/>
              </a:ext>
            </a:extLst>
          </p:cNvPr>
          <p:cNvSpPr txBox="1"/>
          <p:nvPr/>
        </p:nvSpPr>
        <p:spPr>
          <a:xfrm>
            <a:off x="8054025" y="5797878"/>
            <a:ext cx="886217" cy="461665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Pass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D7E14E-8BA2-2548-9446-3FC9FF90056F}"/>
              </a:ext>
            </a:extLst>
          </p:cNvPr>
          <p:cNvSpPr txBox="1"/>
          <p:nvPr/>
        </p:nvSpPr>
        <p:spPr>
          <a:xfrm>
            <a:off x="9995560" y="5777002"/>
            <a:ext cx="886217" cy="830997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Fail</a:t>
            </a:r>
            <a:endParaRPr lang="en-US"/>
          </a:p>
          <a:p>
            <a:pPr algn="l"/>
            <a:endParaRPr lang="en-US" sz="2400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DF47B-37EA-69D5-554D-4738C844A4FC}"/>
              </a:ext>
            </a:extLst>
          </p:cNvPr>
          <p:cNvSpPr txBox="1"/>
          <p:nvPr/>
        </p:nvSpPr>
        <p:spPr>
          <a:xfrm>
            <a:off x="8171145" y="6265100"/>
            <a:ext cx="2132556" cy="595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/>
              <a:t>Predicted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FBC8E4-F956-FAF8-B951-39DAC791055F}"/>
              </a:ext>
            </a:extLst>
          </p:cNvPr>
          <p:cNvSpPr txBox="1"/>
          <p:nvPr/>
        </p:nvSpPr>
        <p:spPr>
          <a:xfrm rot="-5400000">
            <a:off x="6106438" y="3199355"/>
            <a:ext cx="154487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000000"/>
                </a:solidFill>
                <a:latin typeface="Aptos"/>
              </a:rPr>
              <a:t>Actual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C1348A-D108-1B4B-5F37-DFBF639D9B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" r="-53" b="16949"/>
          <a:stretch>
            <a:fillRect/>
          </a:stretch>
        </p:blipFill>
        <p:spPr>
          <a:xfrm>
            <a:off x="173289" y="1983863"/>
            <a:ext cx="5917954" cy="397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97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7EE0AD-A6A2-4B5C-540C-68026D497E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96" r="5967" b="16672"/>
          <a:stretch>
            <a:fillRect/>
          </a:stretch>
        </p:blipFill>
        <p:spPr>
          <a:xfrm>
            <a:off x="5803435" y="497916"/>
            <a:ext cx="6388565" cy="586216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F19CA00-4F1E-645C-9005-94C31D0AB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MT"/>
              <a:t>Cost Optimization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6FA547-23D0-D259-AF66-D1CAFE6CD5B9}"/>
              </a:ext>
            </a:extLst>
          </p:cNvPr>
          <p:cNvSpPr/>
          <p:nvPr/>
        </p:nvSpPr>
        <p:spPr>
          <a:xfrm>
            <a:off x="6741042" y="3587745"/>
            <a:ext cx="4391246" cy="2196368"/>
          </a:xfrm>
          <a:prstGeom prst="rect">
            <a:avLst/>
          </a:prstGeom>
          <a:solidFill>
            <a:schemeClr val="bg2">
              <a:lumMod val="90000"/>
              <a:alpha val="75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1D9412-0646-4B68-A190-002EC4301054}"/>
              </a:ext>
            </a:extLst>
          </p:cNvPr>
          <p:cNvSpPr/>
          <p:nvPr/>
        </p:nvSpPr>
        <p:spPr>
          <a:xfrm>
            <a:off x="8936664" y="1391377"/>
            <a:ext cx="2195623" cy="2196368"/>
          </a:xfrm>
          <a:prstGeom prst="rect">
            <a:avLst/>
          </a:prstGeom>
          <a:solidFill>
            <a:schemeClr val="bg2">
              <a:lumMod val="90000"/>
              <a:alpha val="75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B1CEA-24DB-5D2F-62E2-205DBA95BCF6}"/>
              </a:ext>
            </a:extLst>
          </p:cNvPr>
          <p:cNvSpPr txBox="1"/>
          <p:nvPr/>
        </p:nvSpPr>
        <p:spPr>
          <a:xfrm>
            <a:off x="668524" y="2152001"/>
            <a:ext cx="47802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A passing student is predicted to pass.</a:t>
            </a:r>
          </a:p>
          <a:p>
            <a:endParaRPr lang="en-MT" sz="3600" i="1"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Nothing spent.</a:t>
            </a:r>
          </a:p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Nothing lost.</a:t>
            </a:r>
          </a:p>
        </p:txBody>
      </p:sp>
    </p:spTree>
    <p:extLst>
      <p:ext uri="{BB962C8B-B14F-4D97-AF65-F5344CB8AC3E}">
        <p14:creationId xmlns:p14="http://schemas.microsoft.com/office/powerpoint/2010/main" val="3998944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7EAD0-FCDC-67D4-7C2F-118DDF8E1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687442-908D-A25D-EBF1-8DD07E487A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96" r="5967" b="16672"/>
          <a:stretch>
            <a:fillRect/>
          </a:stretch>
        </p:blipFill>
        <p:spPr>
          <a:xfrm>
            <a:off x="5803435" y="497916"/>
            <a:ext cx="6388565" cy="586216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5B7509-767C-C9AB-F101-F77FAC4B0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MT"/>
              <a:t>Cost Optimization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FB0846-7D48-1186-8064-1207778F05CF}"/>
              </a:ext>
            </a:extLst>
          </p:cNvPr>
          <p:cNvSpPr/>
          <p:nvPr/>
        </p:nvSpPr>
        <p:spPr>
          <a:xfrm>
            <a:off x="6741042" y="1386794"/>
            <a:ext cx="4391246" cy="2196368"/>
          </a:xfrm>
          <a:prstGeom prst="rect">
            <a:avLst/>
          </a:prstGeom>
          <a:solidFill>
            <a:schemeClr val="bg2">
              <a:lumMod val="90000"/>
              <a:alpha val="75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27BA55-2669-1F9A-1FDA-9F36E7BCEBFA}"/>
              </a:ext>
            </a:extLst>
          </p:cNvPr>
          <p:cNvSpPr/>
          <p:nvPr/>
        </p:nvSpPr>
        <p:spPr>
          <a:xfrm>
            <a:off x="8936665" y="3583162"/>
            <a:ext cx="2195623" cy="2196368"/>
          </a:xfrm>
          <a:prstGeom prst="rect">
            <a:avLst/>
          </a:prstGeom>
          <a:solidFill>
            <a:schemeClr val="bg2">
              <a:lumMod val="90000"/>
              <a:alpha val="75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E2F3C8-B54D-678A-AAC8-D79DCA494911}"/>
              </a:ext>
            </a:extLst>
          </p:cNvPr>
          <p:cNvSpPr txBox="1"/>
          <p:nvPr/>
        </p:nvSpPr>
        <p:spPr>
          <a:xfrm>
            <a:off x="668524" y="2152001"/>
            <a:ext cx="47802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A failing student is undetected.</a:t>
            </a:r>
          </a:p>
          <a:p>
            <a:endParaRPr lang="en-MT" sz="3600" i="1"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Nothing spent.</a:t>
            </a:r>
          </a:p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$5,000 loss</a:t>
            </a:r>
          </a:p>
        </p:txBody>
      </p:sp>
    </p:spTree>
    <p:extLst>
      <p:ext uri="{BB962C8B-B14F-4D97-AF65-F5344CB8AC3E}">
        <p14:creationId xmlns:p14="http://schemas.microsoft.com/office/powerpoint/2010/main" val="112635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38F3-F786-4343-576F-938BABFA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18E349-DA40-C991-0AE7-9EEA1D788B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96" r="5967" b="16672"/>
          <a:stretch>
            <a:fillRect/>
          </a:stretch>
        </p:blipFill>
        <p:spPr>
          <a:xfrm>
            <a:off x="5803435" y="497916"/>
            <a:ext cx="6388565" cy="586216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2DA291C-4A44-FAB6-B4A5-E9751559A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MT"/>
              <a:t>Cost Optimization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690B1F-3D65-397C-8A0C-2E16B7CE1AA8}"/>
              </a:ext>
            </a:extLst>
          </p:cNvPr>
          <p:cNvSpPr/>
          <p:nvPr/>
        </p:nvSpPr>
        <p:spPr>
          <a:xfrm>
            <a:off x="6741042" y="1386794"/>
            <a:ext cx="2211572" cy="4392736"/>
          </a:xfrm>
          <a:prstGeom prst="rect">
            <a:avLst/>
          </a:prstGeom>
          <a:solidFill>
            <a:schemeClr val="bg2">
              <a:lumMod val="90000"/>
              <a:alpha val="75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77E326-C9C5-4E34-418E-D7FA4C1B9445}"/>
              </a:ext>
            </a:extLst>
          </p:cNvPr>
          <p:cNvSpPr/>
          <p:nvPr/>
        </p:nvSpPr>
        <p:spPr>
          <a:xfrm>
            <a:off x="8952614" y="3583162"/>
            <a:ext cx="2195623" cy="2196368"/>
          </a:xfrm>
          <a:prstGeom prst="rect">
            <a:avLst/>
          </a:prstGeom>
          <a:solidFill>
            <a:schemeClr val="bg2">
              <a:lumMod val="90000"/>
              <a:alpha val="75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386590-C9ED-0DF2-EFCE-0172F3283914}"/>
              </a:ext>
            </a:extLst>
          </p:cNvPr>
          <p:cNvSpPr txBox="1"/>
          <p:nvPr/>
        </p:nvSpPr>
        <p:spPr>
          <a:xfrm>
            <a:off x="668524" y="2152001"/>
            <a:ext cx="47802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A passing student is predicted to fail.</a:t>
            </a:r>
          </a:p>
          <a:p>
            <a:endParaRPr lang="en-MT" sz="3600" i="1"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$1,000 spent</a:t>
            </a:r>
          </a:p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(waste)</a:t>
            </a:r>
          </a:p>
        </p:txBody>
      </p:sp>
    </p:spTree>
    <p:extLst>
      <p:ext uri="{BB962C8B-B14F-4D97-AF65-F5344CB8AC3E}">
        <p14:creationId xmlns:p14="http://schemas.microsoft.com/office/powerpoint/2010/main" val="166796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40B79-2664-5A93-8099-67B5779C8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28A935-9996-96A2-15D6-30D66B0038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96" r="5967" b="16672"/>
          <a:stretch>
            <a:fillRect/>
          </a:stretch>
        </p:blipFill>
        <p:spPr>
          <a:xfrm>
            <a:off x="5803435" y="497916"/>
            <a:ext cx="6388565" cy="586216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6848AE7-06AE-2CBC-5340-47E4290B0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MT"/>
              <a:t>Cost Optimization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27B027-C913-C603-95C9-37E83F288CCC}"/>
              </a:ext>
            </a:extLst>
          </p:cNvPr>
          <p:cNvSpPr/>
          <p:nvPr/>
        </p:nvSpPr>
        <p:spPr>
          <a:xfrm>
            <a:off x="6741042" y="1386794"/>
            <a:ext cx="2211572" cy="4392736"/>
          </a:xfrm>
          <a:prstGeom prst="rect">
            <a:avLst/>
          </a:prstGeom>
          <a:solidFill>
            <a:schemeClr val="bg2">
              <a:lumMod val="90000"/>
              <a:alpha val="75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2E74CA-1FF2-A3BC-4F44-B41D7FB2E78C}"/>
              </a:ext>
            </a:extLst>
          </p:cNvPr>
          <p:cNvSpPr/>
          <p:nvPr/>
        </p:nvSpPr>
        <p:spPr>
          <a:xfrm>
            <a:off x="8952614" y="1403489"/>
            <a:ext cx="2195623" cy="2196368"/>
          </a:xfrm>
          <a:prstGeom prst="rect">
            <a:avLst/>
          </a:prstGeom>
          <a:solidFill>
            <a:schemeClr val="bg2">
              <a:lumMod val="90000"/>
              <a:alpha val="75000"/>
            </a:schemeClr>
          </a:solidFill>
          <a:ln w="381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T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0B1CA-5935-246D-D2C6-7225BB98C6CA}"/>
              </a:ext>
            </a:extLst>
          </p:cNvPr>
          <p:cNvSpPr txBox="1"/>
          <p:nvPr/>
        </p:nvSpPr>
        <p:spPr>
          <a:xfrm>
            <a:off x="668524" y="2152001"/>
            <a:ext cx="513491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A failing student is detected.</a:t>
            </a:r>
          </a:p>
          <a:p>
            <a:endParaRPr lang="en-MT" sz="3600" i="1"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$1,000 spent</a:t>
            </a:r>
          </a:p>
          <a:p>
            <a:r>
              <a:rPr lang="en-MT" sz="3600" i="1">
                <a:latin typeface="Aptos Serif" panose="02020604070405020304" pitchFamily="18" charset="0"/>
                <a:cs typeface="Aptos Serif" panose="02020604070405020304" pitchFamily="18" charset="0"/>
              </a:rPr>
              <a:t>$5,000 expense avoided</a:t>
            </a:r>
          </a:p>
          <a:p>
            <a:endParaRPr lang="en-MT" sz="3600" i="1">
              <a:latin typeface="Aptos Serif" panose="02020604070405020304" pitchFamily="18" charset="0"/>
              <a:cs typeface="Aptos Serif" panose="02020604070405020304" pitchFamily="18" charset="0"/>
            </a:endParaRPr>
          </a:p>
          <a:p>
            <a:r>
              <a:rPr lang="en-MT" sz="4400" b="1" i="1">
                <a:solidFill>
                  <a:schemeClr val="accent6">
                    <a:lumMod val="50000"/>
                  </a:schemeClr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$4,000 Net Benefit</a:t>
            </a:r>
          </a:p>
        </p:txBody>
      </p:sp>
    </p:spTree>
    <p:extLst>
      <p:ext uri="{BB962C8B-B14F-4D97-AF65-F5344CB8AC3E}">
        <p14:creationId xmlns:p14="http://schemas.microsoft.com/office/powerpoint/2010/main" val="598350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0976475-1DA0-35AB-4664-8DE15D935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8606" y="816047"/>
            <a:ext cx="7924799" cy="594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AF9A17-8647-FAC9-63D9-FDE7BE84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53"/>
            <a:ext cx="10515600" cy="1325563"/>
          </a:xfrm>
        </p:spPr>
        <p:txBody>
          <a:bodyPr/>
          <a:lstStyle/>
          <a:p>
            <a:r>
              <a:rPr lang="en-MT"/>
              <a:t>Cost Optimization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4298E02-B972-59F7-4DF7-E16F4FD903FD}"/>
              </a:ext>
            </a:extLst>
          </p:cNvPr>
          <p:cNvCxnSpPr>
            <a:cxnSpLocks/>
          </p:cNvCxnSpPr>
          <p:nvPr/>
        </p:nvCxnSpPr>
        <p:spPr>
          <a:xfrm flipH="1" flipV="1">
            <a:off x="7304567" y="1839433"/>
            <a:ext cx="446568" cy="91440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543AF2B-177D-CE0E-A9D8-2BA6351512DE}"/>
              </a:ext>
            </a:extLst>
          </p:cNvPr>
          <p:cNvSpPr txBox="1"/>
          <p:nvPr/>
        </p:nvSpPr>
        <p:spPr>
          <a:xfrm>
            <a:off x="7527852" y="2743201"/>
            <a:ext cx="27113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sz="2800">
                <a:solidFill>
                  <a:srgbClr val="C00000"/>
                </a:solidFill>
              </a:rPr>
              <a:t>F1 &amp; Youden’s J </a:t>
            </a:r>
          </a:p>
          <a:p>
            <a:r>
              <a:rPr lang="en-MT" sz="2800">
                <a:solidFill>
                  <a:srgbClr val="C00000"/>
                </a:solidFill>
              </a:rPr>
              <a:t>Converge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82840A-73CB-BACB-47B7-E491C20D7269}"/>
              </a:ext>
            </a:extLst>
          </p:cNvPr>
          <p:cNvSpPr txBox="1"/>
          <p:nvPr/>
        </p:nvSpPr>
        <p:spPr>
          <a:xfrm>
            <a:off x="321142" y="2409736"/>
            <a:ext cx="3431617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800" i="1">
                <a:solidFill>
                  <a:srgbClr val="000000"/>
                </a:solidFill>
                <a:latin typeface="Aptos Serif"/>
                <a:cs typeface="Aptos Serif"/>
              </a:rPr>
              <a:t>Net Benefit driven threshold selection.</a:t>
            </a:r>
            <a:endParaRPr lang="en-US" sz="4800" i="1">
              <a:solidFill>
                <a:srgbClr val="000000"/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45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B4E09-B459-7A29-F2F4-7579C20A5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5B47F-19EC-53C6-66D1-3BD9C72A0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53"/>
            <a:ext cx="10515600" cy="1325563"/>
          </a:xfrm>
        </p:spPr>
        <p:txBody>
          <a:bodyPr/>
          <a:lstStyle/>
          <a:p>
            <a:r>
              <a:rPr lang="en-MT"/>
              <a:t>Cost Optimization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C54502-BDF1-EBAA-8261-6AE59D61A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8" y="1709715"/>
            <a:ext cx="10219765" cy="397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1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DAB0-D6E2-6C80-350B-C9836A30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2CD00-15EA-9E06-5845-FB368619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/>
              <a:t>Business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B71F8C-0762-5B23-B46D-30FEBEDAB093}"/>
              </a:ext>
            </a:extLst>
          </p:cNvPr>
          <p:cNvSpPr txBox="1"/>
          <p:nvPr/>
        </p:nvSpPr>
        <p:spPr>
          <a:xfrm>
            <a:off x="3200400" y="25639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MT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96F5D4-C123-8787-6F1E-DEDCE9B45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159" b="52861"/>
          <a:stretch>
            <a:fillRect/>
          </a:stretch>
        </p:blipFill>
        <p:spPr>
          <a:xfrm>
            <a:off x="194074" y="1838815"/>
            <a:ext cx="6382114" cy="4578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306FC1-585D-AE14-AFCC-AAB3E2BDC7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1" t="6075" r="73475"/>
          <a:stretch>
            <a:fillRect/>
          </a:stretch>
        </p:blipFill>
        <p:spPr>
          <a:xfrm>
            <a:off x="6741042" y="378042"/>
            <a:ext cx="1297172" cy="641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2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3D065-CB8C-1990-24CE-12A4B494F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D7FB4-099D-81A1-5F3A-CC7CF2B9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/>
              <a:t>Business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98EB4B-2E4B-3C04-7079-CF0BBD61049B}"/>
              </a:ext>
            </a:extLst>
          </p:cNvPr>
          <p:cNvSpPr txBox="1"/>
          <p:nvPr/>
        </p:nvSpPr>
        <p:spPr>
          <a:xfrm>
            <a:off x="3200400" y="25639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MT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A65887-02B5-C528-901D-12BBBA586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159" b="41172"/>
          <a:stretch>
            <a:fillRect/>
          </a:stretch>
        </p:blipFill>
        <p:spPr>
          <a:xfrm>
            <a:off x="194074" y="1838815"/>
            <a:ext cx="6382114" cy="8405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E0C777-7596-E16B-CDD1-C28D8D0AEC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1" t="6075" r="49213"/>
          <a:stretch>
            <a:fillRect/>
          </a:stretch>
        </p:blipFill>
        <p:spPr>
          <a:xfrm>
            <a:off x="6741042" y="378042"/>
            <a:ext cx="2700670" cy="641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E4DD-5E04-234D-D963-3EED61CB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0F0C4-D521-D437-1E62-E2D445C4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/>
              <a:t>Business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D6DA7-517D-B59B-F0F2-2BD4E30C6D7A}"/>
              </a:ext>
            </a:extLst>
          </p:cNvPr>
          <p:cNvSpPr txBox="1"/>
          <p:nvPr/>
        </p:nvSpPr>
        <p:spPr>
          <a:xfrm>
            <a:off x="3200400" y="25639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MT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3B3535-1B11-3B0C-E058-28F0F9472F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159" b="26362"/>
          <a:stretch>
            <a:fillRect/>
          </a:stretch>
        </p:blipFill>
        <p:spPr>
          <a:xfrm>
            <a:off x="194074" y="1838815"/>
            <a:ext cx="6382114" cy="13255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01EF5C-1DE0-CFCC-F1C2-22810349E5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0" t="6075" r="27708"/>
          <a:stretch>
            <a:fillRect/>
          </a:stretch>
        </p:blipFill>
        <p:spPr>
          <a:xfrm>
            <a:off x="6741042" y="378042"/>
            <a:ext cx="3944679" cy="641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2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E048F-74DA-C5C9-4B74-203F41A63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EC84-A7BE-840C-8D14-F2FEDB8C4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T"/>
              <a:t>Business Case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AFB4E-41D5-DBEF-E906-5D44C97A8735}"/>
              </a:ext>
            </a:extLst>
          </p:cNvPr>
          <p:cNvSpPr txBox="1"/>
          <p:nvPr/>
        </p:nvSpPr>
        <p:spPr>
          <a:xfrm>
            <a:off x="3200400" y="256390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MT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85BC53-D3CF-D65F-58E3-208501C54D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159"/>
          <a:stretch>
            <a:fillRect/>
          </a:stretch>
        </p:blipFill>
        <p:spPr>
          <a:xfrm>
            <a:off x="194074" y="1838815"/>
            <a:ext cx="6382114" cy="218884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318B0C-920B-B0C6-B73B-EC604DEDC8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01" t="6075" r="5024"/>
          <a:stretch>
            <a:fillRect/>
          </a:stretch>
        </p:blipFill>
        <p:spPr>
          <a:xfrm>
            <a:off x="6741042" y="378042"/>
            <a:ext cx="5256884" cy="6416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AB089A-8D8A-2267-21AE-485F3DC63F88}"/>
              </a:ext>
            </a:extLst>
          </p:cNvPr>
          <p:cNvSpPr txBox="1"/>
          <p:nvPr/>
        </p:nvSpPr>
        <p:spPr>
          <a:xfrm>
            <a:off x="194074" y="4471421"/>
            <a:ext cx="621735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T" sz="2800" b="1" i="1">
                <a:latin typeface="Aptos Serif" panose="02020604070405020304" pitchFamily="18" charset="0"/>
                <a:cs typeface="Aptos Serif" panose="02020604070405020304" pitchFamily="18" charset="0"/>
              </a:rPr>
              <a:t>1,322 students</a:t>
            </a:r>
          </a:p>
          <a:p>
            <a:r>
              <a:rPr lang="en-MT" sz="6000" b="1" i="1">
                <a:solidFill>
                  <a:schemeClr val="accent3">
                    <a:lumMod val="75000"/>
                  </a:schemeClr>
                </a:solidFill>
                <a:latin typeface="Aptos Serif" panose="02020604070405020304" pitchFamily="18" charset="0"/>
                <a:cs typeface="Aptos Serif" panose="02020604070405020304" pitchFamily="18" charset="0"/>
              </a:rPr>
              <a:t>$340.39/student</a:t>
            </a:r>
          </a:p>
          <a:p>
            <a:endParaRPr lang="en-MT" sz="6000" b="1" i="1">
              <a:solidFill>
                <a:schemeClr val="accent6">
                  <a:lumMod val="50000"/>
                </a:schemeClr>
              </a:solidFill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35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71D38-3CEF-70F5-9AC2-12C4F318F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676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MT"/>
          </a:p>
          <a:p>
            <a:pPr marL="0" indent="0">
              <a:buNone/>
            </a:pPr>
            <a:endParaRPr lang="en-MT"/>
          </a:p>
          <a:p>
            <a:pPr marL="0" indent="0" algn="ctr">
              <a:buNone/>
            </a:pPr>
            <a:r>
              <a:rPr lang="en-MT">
                <a:latin typeface="Aptos"/>
                <a:cs typeface="Aptos Serif"/>
              </a:rPr>
              <a:t>Final model is a tool meant to focus attentions on these areas.</a:t>
            </a:r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 i="1">
                <a:latin typeface="Aptos"/>
                <a:cs typeface="Aptos Serif"/>
              </a:rPr>
              <a:t>Let's direct support  to the students who need it the most.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C660BF-7633-5FDD-52F7-0535AA09A1AB}"/>
              </a:ext>
            </a:extLst>
          </p:cNvPr>
          <p:cNvSpPr/>
          <p:nvPr/>
        </p:nvSpPr>
        <p:spPr>
          <a:xfrm>
            <a:off x="2644847" y="2218966"/>
            <a:ext cx="2135891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Study Hours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D338CF-59CB-65D1-7F55-9C30F2F4CB41}"/>
              </a:ext>
            </a:extLst>
          </p:cNvPr>
          <p:cNvSpPr/>
          <p:nvPr/>
        </p:nvSpPr>
        <p:spPr>
          <a:xfrm>
            <a:off x="7423102" y="2218966"/>
            <a:ext cx="2135891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b="1"/>
              <a:t>Learning Disabilities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41C8EAF-3D15-A934-F90F-DADE1DBBBDD1}"/>
              </a:ext>
            </a:extLst>
          </p:cNvPr>
          <p:cNvSpPr/>
          <p:nvPr/>
        </p:nvSpPr>
        <p:spPr>
          <a:xfrm>
            <a:off x="5033974" y="2218966"/>
            <a:ext cx="2135891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500" b="1"/>
              <a:t>Access to Resources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CD9F3D-4351-EBC9-6D65-815A814DCF0D}"/>
              </a:ext>
            </a:extLst>
          </p:cNvPr>
          <p:cNvSpPr/>
          <p:nvPr/>
        </p:nvSpPr>
        <p:spPr>
          <a:xfrm>
            <a:off x="221343" y="2218966"/>
            <a:ext cx="2135891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latin typeface="Aptos"/>
                <a:cs typeface="Aptos Serif"/>
              </a:rPr>
              <a:t>Attendance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3287C4-001D-09A4-E482-E6BE18604057}"/>
              </a:ext>
            </a:extLst>
          </p:cNvPr>
          <p:cNvSpPr/>
          <p:nvPr/>
        </p:nvSpPr>
        <p:spPr>
          <a:xfrm>
            <a:off x="9846606" y="2218966"/>
            <a:ext cx="2135891" cy="4572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500" b="1"/>
              <a:t>Parental Involvement</a:t>
            </a:r>
          </a:p>
        </p:txBody>
      </p:sp>
    </p:spTree>
    <p:extLst>
      <p:ext uri="{BB962C8B-B14F-4D97-AF65-F5344CB8AC3E}">
        <p14:creationId xmlns:p14="http://schemas.microsoft.com/office/powerpoint/2010/main" val="2804528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Education Intervention Project</vt:lpstr>
      <vt:lpstr>The Problem</vt:lpstr>
      <vt:lpstr>Defining our Metrics / Goals</vt:lpstr>
      <vt:lpstr>The Approach</vt:lpstr>
      <vt:lpstr>EDA – Handling the Data</vt:lpstr>
      <vt:lpstr>EDA – Associations with Failing</vt:lpstr>
      <vt:lpstr>EDA – Feature Selection</vt:lpstr>
      <vt:lpstr>Linearity of Logits</vt:lpstr>
      <vt:lpstr>Probing for Interactions</vt:lpstr>
      <vt:lpstr>Interpretation of Coefficients</vt:lpstr>
      <vt:lpstr>Interpretation of Coefficients</vt:lpstr>
      <vt:lpstr>Interpretation of Coefficients</vt:lpstr>
      <vt:lpstr>Interpretation of Coefficients</vt:lpstr>
      <vt:lpstr>Interpretation of Coefficients</vt:lpstr>
      <vt:lpstr>Multivariate Normality</vt:lpstr>
      <vt:lpstr>Correlation Structure</vt:lpstr>
      <vt:lpstr>Correlation Structure</vt:lpstr>
      <vt:lpstr>Model Comparison</vt:lpstr>
      <vt:lpstr>Model Comparison</vt:lpstr>
      <vt:lpstr>Cost Optimization</vt:lpstr>
      <vt:lpstr>Cost Optimization</vt:lpstr>
      <vt:lpstr>Cost Optimization</vt:lpstr>
      <vt:lpstr>Cost Optimization</vt:lpstr>
      <vt:lpstr>Cost Optimization</vt:lpstr>
      <vt:lpstr>Cost Optimization</vt:lpstr>
      <vt:lpstr>Business Case</vt:lpstr>
      <vt:lpstr>Business Case</vt:lpstr>
      <vt:lpstr>Business Case</vt:lpstr>
      <vt:lpstr>Business Case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Klein</dc:creator>
  <cp:revision>4</cp:revision>
  <dcterms:created xsi:type="dcterms:W3CDTF">2026-08-10T23:53:18Z</dcterms:created>
  <dcterms:modified xsi:type="dcterms:W3CDTF">2026-08-16T23:02:05Z</dcterms:modified>
</cp:coreProperties>
</file>